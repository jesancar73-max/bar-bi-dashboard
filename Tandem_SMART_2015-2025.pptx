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charts/chart8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-804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00B4D8"/>
                </a:solidFill>
                <a:latin typeface="Arial"/>
              </a:rPr>
              <a:t>Resultado Contable Mensual (k€)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k€</c:v>
                </c:pt>
              </c:strCache>
            </c:strRef>
          </c:tx>
          <c:spPr>
            <a:solidFill>
              <a:srgbClr val="00B4D8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Pt>
            <c:idx val="5"/>
          </c:dPt>
          <c:dPt>
            <c:idx val="6"/>
            <c:spPr>
              <a:solidFill>
                <a:srgbClr val="FF4560"/>
              </a:solidFill>
              <a:effectLst/>
            </c:spPr>
          </c:dPt>
          <c:dPt>
            <c:idx val="7"/>
            <c:spPr>
              <a:solidFill>
                <a:srgbClr val="FF4560"/>
              </a:solidFill>
              <a:effectLst/>
            </c:spPr>
          </c:dPt>
          <c:dPt>
            <c:idx val="8"/>
          </c:dPt>
          <c:dPt>
            <c:idx val="9"/>
          </c:dPt>
          <c:dPt>
            <c:idx val="10"/>
          </c:dPt>
          <c:dPt>
            <c:idx val="11"/>
            <c:spPr>
              <a:solidFill>
                <a:srgbClr val="F0A50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27</c:v>
                </c:pt>
                <c:pt idx="2">
                  <c:v>35</c:v>
                </c:pt>
                <c:pt idx="3">
                  <c:v>31</c:v>
                </c:pt>
                <c:pt idx="4">
                  <c:v>21</c:v>
                </c:pt>
                <c:pt idx="5">
                  <c:v>19</c:v>
                </c:pt>
                <c:pt idx="6">
                  <c:v>-4</c:v>
                </c:pt>
                <c:pt idx="7">
                  <c:v>-15</c:v>
                </c:pt>
                <c:pt idx="8">
                  <c:v>12</c:v>
                </c:pt>
                <c:pt idx="9">
                  <c:v>14</c:v>
                </c:pt>
                <c:pt idx="10">
                  <c:v>0</c:v>
                </c:pt>
                <c:pt idx="11">
                  <c:v>117</c:v>
                </c:pt>
              </c:numCache>
            </c:numRef>
          </c:val>
        </c:ser>
        <c:dLbls>
          <c:showVal val="1"/>
        </c:dLbls>
        <c:axId val="122473472"/>
        <c:axId val="122495744"/>
      </c:barChart>
      <c:catAx>
        <c:axId val="122473472"/>
        <c:scaling>
          <c:orientation val="minMax"/>
        </c:scaling>
        <c:axPos val="b"/>
        <c:numFmt formatCode="General" sourceLinked="1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495744"/>
        <c:crosses val="autoZero"/>
        <c:auto val="1"/>
        <c:lblAlgn val="ctr"/>
        <c:lblOffset val="100"/>
        <c:noMultiLvlLbl val="1"/>
      </c:catAx>
      <c:valAx>
        <c:axId val="122495744"/>
        <c:scaling>
          <c:orientation val="minMax"/>
        </c:scaling>
        <c:axPos val="l"/>
        <c:majorGridlines>
          <c:spPr>
            <a:ln w="6350" cap="flat">
              <a:solidFill>
                <a:srgbClr val="1A2E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473472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00B4D8"/>
                </a:solidFill>
                <a:latin typeface="Arial"/>
              </a:rPr>
              <a:t>Resultado vs Objetivo (€)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Mensual (€)</c:v>
                </c:pt>
              </c:strCache>
            </c:strRef>
          </c:tx>
          <c:spPr>
            <a:solidFill>
              <a:srgbClr val="FF456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Julio 2015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-751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Objetivo +8% (€)</c:v>
                </c:pt>
              </c:strCache>
            </c:strRef>
          </c:tx>
          <c:spPr>
            <a:solidFill>
              <a:srgbClr val="00B4D8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Julio 2015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2219</c:v>
                </c:pt>
              </c:numCache>
            </c:numRef>
          </c:val>
        </c:ser>
        <c:dLbls>
          <c:showVal val="1"/>
        </c:dLbls>
        <c:axId val="122312576"/>
        <c:axId val="122314112"/>
      </c:barChart>
      <c:catAx>
        <c:axId val="12231257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314112"/>
        <c:crosses val="autoZero"/>
        <c:auto val="1"/>
        <c:lblAlgn val="ctr"/>
        <c:lblOffset val="100"/>
        <c:noMultiLvlLbl val="1"/>
      </c:catAx>
      <c:valAx>
        <c:axId val="122314112"/>
        <c:scaling>
          <c:orientation val="minMax"/>
        </c:scaling>
        <c:axPos val="l"/>
        <c:majorGridlines>
          <c:spPr>
            <a:ln w="6350" cap="flat">
              <a:solidFill>
                <a:srgbClr val="1A2E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312576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900">
              <a:solidFill>
                <a:srgbClr val="C8D6E5"/>
              </a:solidFill>
            </a:defRPr>
          </a:pPr>
          <a:endParaRPr lang="es-ES"/>
        </a:p>
      </c:txPr>
    </c:legend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F0A500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F0A500"/>
                </a:solidFill>
                <a:latin typeface="Arial"/>
              </a:rPr>
              <a:t>Top Partidas Gasto (€)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Gasto (€)</c:v>
                </c:pt>
              </c:strCache>
            </c:strRef>
          </c:tx>
          <c:spPr>
            <a:solidFill>
              <a:srgbClr val="F0A500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</c:dPt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Otros</c:v>
                </c:pt>
                <c:pt idx="1">
                  <c:v>Bebidas</c:v>
                </c:pt>
                <c:pt idx="2">
                  <c:v>Personal</c:v>
                </c:pt>
                <c:pt idx="3">
                  <c:v>Suministros</c:v>
                </c:pt>
                <c:pt idx="4">
                  <c:v>Publicidad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2800</c:v>
                </c:pt>
                <c:pt idx="1">
                  <c:v>1600</c:v>
                </c:pt>
                <c:pt idx="2">
                  <c:v>1000</c:v>
                </c:pt>
                <c:pt idx="3">
                  <c:v>800</c:v>
                </c:pt>
                <c:pt idx="4">
                  <c:v>200</c:v>
                </c:pt>
              </c:numCache>
            </c:numRef>
          </c:val>
        </c:ser>
        <c:dLbls>
          <c:showVal val="1"/>
        </c:dLbls>
        <c:axId val="122664448"/>
        <c:axId val="122665984"/>
      </c:barChart>
      <c:catAx>
        <c:axId val="12266444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665984"/>
        <c:crosses val="autoZero"/>
        <c:auto val="1"/>
        <c:lblAlgn val="ctr"/>
        <c:lblOffset val="100"/>
        <c:noMultiLvlLbl val="1"/>
      </c:catAx>
      <c:valAx>
        <c:axId val="122665984"/>
        <c:scaling>
          <c:orientation val="minMax"/>
        </c:scaling>
        <c:axPos val="b"/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664448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F0A500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F0A500"/>
                </a:solidFill>
                <a:latin typeface="Arial"/>
              </a:rPr>
              <a:t>PVP por Producto (€)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PVP (€)</c:v>
                </c:pt>
              </c:strCache>
            </c:strRef>
          </c:tx>
          <c:spPr>
            <a:solidFill>
              <a:srgbClr val="F0A500"/>
            </a:solidFill>
            <a:effectLst/>
          </c:spPr>
          <c:dPt>
            <c:idx val="0"/>
          </c:dPt>
          <c:dPt>
            <c:idx val="1"/>
            <c:spPr>
              <a:solidFill>
                <a:srgbClr val="00B4D8"/>
              </a:solidFill>
              <a:effectLst/>
            </c:spPr>
          </c:dPt>
          <c:dPt>
            <c:idx val="2"/>
            <c:spPr>
              <a:solidFill>
                <a:srgbClr val="0077A8"/>
              </a:solidFill>
              <a:effectLst/>
            </c:spPr>
          </c:dPt>
          <c:dPt>
            <c:idx val="3"/>
            <c:spPr>
              <a:solidFill>
                <a:srgbClr val="22D66B"/>
              </a:solidFill>
              <a:effectLst/>
            </c:spPr>
          </c:dPt>
          <c:dPt>
            <c:idx val="4"/>
            <c:spPr>
              <a:solidFill>
                <a:srgbClr val="C8D6E5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Copa Luxury</c:v>
                </c:pt>
                <c:pt idx="1">
                  <c:v>Copa Premium</c:v>
                </c:pt>
                <c:pt idx="2">
                  <c:v>Copa Normal</c:v>
                </c:pt>
                <c:pt idx="3">
                  <c:v>Cerveza</c:v>
                </c:pt>
                <c:pt idx="4">
                  <c:v>Café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10</c:v>
                </c:pt>
                <c:pt idx="2">
                  <c:v>5</c:v>
                </c:pt>
                <c:pt idx="3">
                  <c:v>2.5</c:v>
                </c:pt>
                <c:pt idx="4">
                  <c:v>1.5</c:v>
                </c:pt>
              </c:numCache>
            </c:numRef>
          </c:val>
        </c:ser>
        <c:dLbls>
          <c:showVal val="1"/>
        </c:dLbls>
        <c:axId val="122610816"/>
        <c:axId val="122612352"/>
      </c:barChart>
      <c:catAx>
        <c:axId val="122610816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612352"/>
        <c:crosses val="autoZero"/>
        <c:auto val="1"/>
        <c:lblAlgn val="ctr"/>
        <c:lblOffset val="100"/>
        <c:noMultiLvlLbl val="1"/>
      </c:catAx>
      <c:valAx>
        <c:axId val="122612352"/>
        <c:scaling>
          <c:orientation val="minMax"/>
        </c:scaling>
        <c:axPos val="b"/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2610816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00B4D8"/>
                </a:solidFill>
                <a:latin typeface="Arial"/>
              </a:rPr>
              <a:t>Top Unidades Vendidas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C8D6E5"/>
            </a:solidFill>
            <a:effectLst/>
          </c:spPr>
          <c:dPt>
            <c:idx val="0"/>
          </c:dPt>
          <c:dPt>
            <c:idx val="1"/>
            <c:spPr>
              <a:solidFill>
                <a:srgbClr val="22D66B"/>
              </a:solidFill>
              <a:effectLst/>
            </c:spPr>
          </c:dPt>
          <c:dPt>
            <c:idx val="2"/>
            <c:spPr>
              <a:solidFill>
                <a:srgbClr val="0077A8"/>
              </a:solidFill>
              <a:effectLst/>
            </c:spPr>
          </c:dPt>
          <c:dPt>
            <c:idx val="3"/>
            <c:spPr>
              <a:solidFill>
                <a:srgbClr val="00B4D8"/>
              </a:solidFill>
              <a:effectLst/>
            </c:spPr>
          </c:dPt>
          <c:dPt>
            <c:idx val="4"/>
            <c:spPr>
              <a:solidFill>
                <a:srgbClr val="F0A50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Café</c:v>
                </c:pt>
                <c:pt idx="1">
                  <c:v>Cerveza</c:v>
                </c:pt>
                <c:pt idx="2">
                  <c:v>Copa Normal</c:v>
                </c:pt>
                <c:pt idx="3">
                  <c:v>Copa Premium</c:v>
                </c:pt>
                <c:pt idx="4">
                  <c:v>Copa Luxury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863</c:v>
                </c:pt>
                <c:pt idx="1">
                  <c:v>729</c:v>
                </c:pt>
                <c:pt idx="2">
                  <c:v>500</c:v>
                </c:pt>
                <c:pt idx="3">
                  <c:v>350</c:v>
                </c:pt>
                <c:pt idx="4">
                  <c:v>50</c:v>
                </c:pt>
              </c:numCache>
            </c:numRef>
          </c:val>
        </c:ser>
        <c:dLbls>
          <c:showVal val="1"/>
        </c:dLbls>
        <c:axId val="123126144"/>
        <c:axId val="123127680"/>
      </c:barChart>
      <c:catAx>
        <c:axId val="12312614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3127680"/>
        <c:crosses val="autoZero"/>
        <c:auto val="1"/>
        <c:lblAlgn val="ctr"/>
        <c:lblOffset val="100"/>
        <c:noMultiLvlLbl val="1"/>
      </c:catAx>
      <c:valAx>
        <c:axId val="123127680"/>
        <c:scaling>
          <c:orientation val="minMax"/>
        </c:scaling>
        <c:axPos val="b"/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23126144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00B4D8"/>
                </a:solidFill>
                <a:latin typeface="Arial"/>
              </a:rPr>
              <a:t>Gastos vs Objetivo (€)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Gastos Reales</c:v>
                </c:pt>
              </c:strCache>
            </c:strRef>
          </c:tx>
          <c:spPr>
            <a:solidFill>
              <a:srgbClr val="22D66B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Ago-2015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Objetivo −5%</c:v>
                </c:pt>
              </c:strCache>
            </c:strRef>
          </c:tx>
          <c:spPr>
            <a:solidFill>
              <a:srgbClr val="00B4D8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Ago-2015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6486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6M Ant.</c:v>
                </c:pt>
              </c:strCache>
            </c:strRef>
          </c:tx>
          <c:spPr>
            <a:solidFill>
              <a:srgbClr val="F0A50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Ago-2015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6827</c:v>
                </c:pt>
              </c:numCache>
            </c:numRef>
          </c:val>
        </c:ser>
        <c:dLbls>
          <c:showVal val="1"/>
        </c:dLbls>
        <c:axId val="174014848"/>
        <c:axId val="174016384"/>
      </c:barChart>
      <c:catAx>
        <c:axId val="17401484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016384"/>
        <c:crosses val="autoZero"/>
        <c:auto val="1"/>
        <c:lblAlgn val="ctr"/>
        <c:lblOffset val="100"/>
        <c:noMultiLvlLbl val="1"/>
      </c:catAx>
      <c:valAx>
        <c:axId val="174016384"/>
        <c:scaling>
          <c:orientation val="minMax"/>
        </c:scaling>
        <c:axPos val="l"/>
        <c:majorGridlines>
          <c:spPr>
            <a:ln w="6350" cap="flat">
              <a:solidFill>
                <a:srgbClr val="1A2E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014848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850">
              <a:solidFill>
                <a:srgbClr val="C8D6E5"/>
              </a:solidFill>
            </a:defRPr>
          </a:pPr>
          <a:endParaRPr lang="es-ES"/>
        </a:p>
      </c:txPr>
    </c:legend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1050" b="0" i="0" u="none" strike="noStrike">
                <a:solidFill>
                  <a:srgbClr val="00B4D8"/>
                </a:solidFill>
                <a:latin typeface="Arial"/>
              </a:rPr>
              <a:t>Ventas vs Media 6M (€)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 Reales</c:v>
                </c:pt>
              </c:strCache>
            </c:strRef>
          </c:tx>
          <c:spPr>
            <a:solidFill>
              <a:srgbClr val="FF456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Ago-2015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Ventas Media 6M</c:v>
                </c:pt>
              </c:strCache>
            </c:strRef>
          </c:tx>
          <c:spPr>
            <a:solidFill>
              <a:srgbClr val="00B4D8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5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Sheet1!$A$2:$A$2</c:f>
              <c:strCache>
                <c:ptCount val="1"/>
                <c:pt idx="0">
                  <c:v>Ago-2015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8700</c:v>
                </c:pt>
              </c:numCache>
            </c:numRef>
          </c:val>
        </c:ser>
        <c:dLbls>
          <c:showVal val="1"/>
        </c:dLbls>
        <c:axId val="174058496"/>
        <c:axId val="174068480"/>
      </c:barChart>
      <c:catAx>
        <c:axId val="17405849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068480"/>
        <c:crosses val="autoZero"/>
        <c:auto val="1"/>
        <c:lblAlgn val="ctr"/>
        <c:lblOffset val="100"/>
        <c:noMultiLvlLbl val="1"/>
      </c:catAx>
      <c:valAx>
        <c:axId val="174068480"/>
        <c:scaling>
          <c:orientation val="minMax"/>
        </c:scaling>
        <c:axPos val="l"/>
        <c:majorGridlines>
          <c:spPr>
            <a:ln w="6350" cap="flat">
              <a:solidFill>
                <a:srgbClr val="1A2E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058496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850">
              <a:solidFill>
                <a:srgbClr val="C8D6E5"/>
              </a:solidFill>
            </a:defRPr>
          </a:pPr>
          <a:endParaRPr lang="es-ES"/>
        </a:p>
      </c:txPr>
    </c:legend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es-ES" sz="900" b="0" i="0" u="none" strike="noStrike">
                <a:solidFill>
                  <a:srgbClr val="00B4D8"/>
                </a:solidFill>
                <a:latin typeface="Arial"/>
              </a:rPr>
              <a:t>Ventas Diarias — Noviembre 2015 (€) · D=Domingo L=Lunes M=Martes X=Miércoles J=Jueves V=Viernes S=Sábado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 (€)</c:v>
                </c:pt>
              </c:strCache>
            </c:strRef>
          </c:tx>
          <c:spPr>
            <a:solidFill>
              <a:srgbClr val="00B4D8"/>
            </a:solidFill>
            <a:effectLst/>
          </c:spPr>
          <c:dPt>
            <c:idx val="0"/>
          </c:dPt>
          <c:dPt>
            <c:idx val="1"/>
            <c:spPr>
              <a:solidFill>
                <a:srgbClr val="F0A500"/>
              </a:solidFill>
              <a:effectLst/>
            </c:spPr>
          </c:dPt>
          <c:dPt>
            <c:idx val="2"/>
          </c:dPt>
          <c:dPt>
            <c:idx val="3"/>
            <c:spPr>
              <a:solidFill>
                <a:srgbClr val="0077A8"/>
              </a:solidFill>
              <a:effectLst/>
            </c:spPr>
          </c:dPt>
          <c:dPt>
            <c:idx val="4"/>
            <c:spPr>
              <a:solidFill>
                <a:srgbClr val="0077A8"/>
              </a:solidFill>
              <a:effectLst/>
            </c:spPr>
          </c:dPt>
          <c:dPt>
            <c:idx val="5"/>
            <c:spPr>
              <a:solidFill>
                <a:srgbClr val="1A2E50"/>
              </a:solidFill>
              <a:effectLst/>
            </c:spPr>
          </c:dPt>
          <c:dPt>
            <c:idx val="6"/>
            <c:spPr>
              <a:solidFill>
                <a:srgbClr val="0077A8"/>
              </a:solidFill>
              <a:effectLst/>
            </c:spPr>
          </c:dPt>
          <c:dPt>
            <c:idx val="7"/>
          </c:dPt>
          <c:dPt>
            <c:idx val="8"/>
            <c:spPr>
              <a:solidFill>
                <a:srgbClr val="F0A500"/>
              </a:solidFill>
              <a:effectLst/>
            </c:spPr>
          </c:dPt>
          <c:dPt>
            <c:idx val="9"/>
          </c:dPt>
          <c:dPt>
            <c:idx val="10"/>
            <c:spPr>
              <a:solidFill>
                <a:srgbClr val="0077A8"/>
              </a:solidFill>
              <a:effectLst/>
            </c:spPr>
          </c:dPt>
          <c:dPt>
            <c:idx val="11"/>
            <c:spPr>
              <a:solidFill>
                <a:srgbClr val="0077A8"/>
              </a:solidFill>
              <a:effectLst/>
            </c:spPr>
          </c:dPt>
          <c:dPt>
            <c:idx val="12"/>
            <c:spPr>
              <a:solidFill>
                <a:srgbClr val="1A2E5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700" b="0" i="0" u="none" strike="noStrike">
                    <a:solidFill>
                      <a:srgbClr val="C8D6E5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Sheet1!$A$2:$A$14</c:f>
              <c:strCache>
                <c:ptCount val="13"/>
                <c:pt idx="0">
                  <c:v>D1</c:v>
                </c:pt>
                <c:pt idx="1">
                  <c:v>L2</c:v>
                </c:pt>
                <c:pt idx="2">
                  <c:v>M3</c:v>
                </c:pt>
                <c:pt idx="3">
                  <c:v>X4</c:v>
                </c:pt>
                <c:pt idx="4">
                  <c:v>J5</c:v>
                </c:pt>
                <c:pt idx="5">
                  <c:v>V6</c:v>
                </c:pt>
                <c:pt idx="6">
                  <c:v>S7</c:v>
                </c:pt>
                <c:pt idx="7">
                  <c:v>D8</c:v>
                </c:pt>
                <c:pt idx="8">
                  <c:v>L9</c:v>
                </c:pt>
                <c:pt idx="9">
                  <c:v>M10</c:v>
                </c:pt>
                <c:pt idx="10">
                  <c:v>X11</c:v>
                </c:pt>
                <c:pt idx="11">
                  <c:v>J12</c:v>
                </c:pt>
                <c:pt idx="12">
                  <c:v>V13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761</c:v>
                </c:pt>
                <c:pt idx="1">
                  <c:v>1168</c:v>
                </c:pt>
                <c:pt idx="2">
                  <c:v>542.5</c:v>
                </c:pt>
                <c:pt idx="3">
                  <c:v>30.5</c:v>
                </c:pt>
                <c:pt idx="4">
                  <c:v>42.5</c:v>
                </c:pt>
                <c:pt idx="5">
                  <c:v>0</c:v>
                </c:pt>
                <c:pt idx="6">
                  <c:v>116.5</c:v>
                </c:pt>
                <c:pt idx="7">
                  <c:v>358</c:v>
                </c:pt>
                <c:pt idx="8">
                  <c:v>901.5</c:v>
                </c:pt>
                <c:pt idx="9">
                  <c:v>371</c:v>
                </c:pt>
                <c:pt idx="10">
                  <c:v>79</c:v>
                </c:pt>
                <c:pt idx="11">
                  <c:v>57.5</c:v>
                </c:pt>
                <c:pt idx="12">
                  <c:v>0</c:v>
                </c:pt>
              </c:numCache>
            </c:numRef>
          </c:val>
        </c:ser>
        <c:dLbls>
          <c:showVal val="1"/>
        </c:dLbls>
        <c:axId val="174246144"/>
        <c:axId val="174260224"/>
      </c:barChart>
      <c:catAx>
        <c:axId val="17424614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260224"/>
        <c:crosses val="autoZero"/>
        <c:auto val="1"/>
        <c:lblAlgn val="ctr"/>
        <c:lblOffset val="100"/>
        <c:noMultiLvlLbl val="1"/>
      </c:catAx>
      <c:valAx>
        <c:axId val="174260224"/>
        <c:scaling>
          <c:orientation val="minMax"/>
        </c:scaling>
        <c:axPos val="l"/>
        <c:majorGridlines>
          <c:spPr>
            <a:ln w="6350" cap="flat">
              <a:solidFill>
                <a:srgbClr val="1A2E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6C0"/>
                </a:solidFill>
                <a:latin typeface="Arial"/>
              </a:defRPr>
            </a:pPr>
            <a:endParaRPr lang="es-ES"/>
          </a:p>
        </c:txPr>
        <c:crossAx val="174246144"/>
        <c:crosses val="autoZero"/>
        <c:crossBetween val="between"/>
      </c:valAx>
      <c:spPr>
        <a:solidFill>
          <a:srgbClr val="111D38"/>
        </a:solidFill>
        <a:ln>
          <a:noFill/>
        </a:ln>
        <a:effectLst/>
      </c:spPr>
    </c:plotArea>
    <c:plotVisOnly val="1"/>
    <c:dispBlanksAs val="span"/>
  </c:chart>
  <c:spPr>
    <a:solidFill>
      <a:srgbClr val="111D38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9144000" cy="54864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73152" cy="2560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TÁNDEM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&amp; COPAS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RENDIMIENTO SMART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2926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71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2015  ·  Dashboard DEV v1.0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02920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502920"/>
            <a:ext cx="228600" cy="64008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502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 — Cierre Mensual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362456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62456"/>
            <a:ext cx="228600" cy="64008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624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2 — Resultado +8% vs 6M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221992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221992"/>
            <a:ext cx="228600" cy="64008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2219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3 — Ticket +1,5%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081528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081528"/>
            <a:ext cx="228600" cy="64008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081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4 — Gastos -5%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941064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941064"/>
            <a:ext cx="228600" cy="64008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410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5 — Productividad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 ·  Diciembre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MANDO — Objetivos SMART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global · Todas las fechas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1 /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26187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153619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246,83 k€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" y="1730776"/>
            <a:ext cx="153619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47672" y="1024128"/>
            <a:ext cx="1627632" cy="126187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1024128"/>
            <a:ext cx="1627632" cy="10972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88720"/>
            <a:ext cx="153619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26.906%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93392" y="1907438"/>
            <a:ext cx="153619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Resultado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12464" y="1024128"/>
            <a:ext cx="1627632" cy="126187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188720"/>
            <a:ext cx="153619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10,10 €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907438"/>
            <a:ext cx="153619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77256" y="1024128"/>
            <a:ext cx="1627632" cy="126187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188720"/>
            <a:ext cx="153619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108,02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2976" y="1907438"/>
            <a:ext cx="153619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Var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6M 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42048" y="1024128"/>
            <a:ext cx="1627632" cy="126187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024128"/>
            <a:ext cx="1627632" cy="10972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88720"/>
            <a:ext cx="1536192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22,81 €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87768" y="1907438"/>
            <a:ext cx="153619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148840"/>
            <a:ext cx="1627632" cy="137160"/>
          </a:xfrm>
          <a:prstGeom prst="rect">
            <a:avLst/>
          </a:prstGeom>
          <a:solidFill>
            <a:srgbClr val="FF4560">
              <a:alpha val="70000"/>
            </a:srgbClr>
          </a:solidFill>
          <a:ln w="12700">
            <a:solidFill>
              <a:srgbClr val="FF4560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14884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KO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47672" y="2148840"/>
            <a:ext cx="1627632" cy="137160"/>
          </a:xfrm>
          <a:prstGeom prst="rect">
            <a:avLst/>
          </a:prstGeom>
          <a:solidFill>
            <a:srgbClr val="22D66B">
              <a:alpha val="70000"/>
            </a:srgbClr>
          </a:solidFill>
          <a:ln w="12700">
            <a:solidFill>
              <a:srgbClr val="22D66B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47672" y="214884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12464" y="2148840"/>
            <a:ext cx="1627632" cy="137160"/>
          </a:xfrm>
          <a:prstGeom prst="rect">
            <a:avLst/>
          </a:prstGeom>
          <a:solidFill>
            <a:srgbClr val="FF4560">
              <a:alpha val="70000"/>
            </a:srgbClr>
          </a:solidFill>
          <a:ln w="12700">
            <a:solidFill>
              <a:srgbClr val="FF4560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214884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77256" y="2148840"/>
            <a:ext cx="1627632" cy="137160"/>
          </a:xfrm>
          <a:prstGeom prst="rect">
            <a:avLst/>
          </a:prstGeom>
          <a:solidFill>
            <a:srgbClr val="FF4560">
              <a:alpha val="70000"/>
            </a:srgbClr>
          </a:solidFill>
          <a:ln w="12700">
            <a:solidFill>
              <a:srgbClr val="FF4560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77256" y="214884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42048" y="2148840"/>
            <a:ext cx="1627632" cy="137160"/>
          </a:xfrm>
          <a:prstGeom prst="rect">
            <a:avLst/>
          </a:prstGeom>
          <a:solidFill>
            <a:srgbClr val="22D66B">
              <a:alpha val="70000"/>
            </a:srgbClr>
          </a:solidFill>
          <a:ln w="12700">
            <a:solidFill>
              <a:srgbClr val="22D66B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214884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2468880"/>
            <a:ext cx="859536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2606040"/>
            <a:ext cx="4160520" cy="2377440"/>
          </a:xfrm>
          <a:prstGeom prst="rect">
            <a:avLst/>
          </a:prstGeom>
          <a:solidFill>
            <a:srgbClr val="111D38"/>
          </a:solidFill>
          <a:ln w="12700">
            <a:solidFill>
              <a:srgbClr val="FF4560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2606040"/>
            <a:ext cx="54864" cy="237744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6517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ALERTAS — KPIs en KO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300837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953512"/>
            <a:ext cx="377647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5 KPIs están en KO: Resultado Mensual, Ticket Medio y Gastos vs 6M necesitan acción inmediata.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366369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608832"/>
            <a:ext cx="377647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Medio (10,10€) está por debajo del objetivo marcado; pequeñas mejoras en mix de producto tienen gran impacto.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43190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264152"/>
            <a:ext cx="377647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Gastos_Var vs 6M Ant en 108,02: los gastos superan en un 8% la media semestral anterior, erosionando el margen.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2606040"/>
            <a:ext cx="4343400" cy="2377440"/>
          </a:xfrm>
          <a:prstGeom prst="rect">
            <a:avLst/>
          </a:prstGeom>
          <a:solidFill>
            <a:srgbClr val="111D38"/>
          </a:solidFill>
          <a:ln w="12700">
            <a:solidFill>
              <a:srgbClr val="22D66B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2606040"/>
            <a:ext cx="54864" cy="2377440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6517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PUNTOS FUERTES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36592" y="300837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295351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Resultado vs 6M en +26.906% OK: la recuperación de resultado es extraordinaria respecto al semestre anterior.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36592" y="366369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60883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Hora (22,81€) en OK: la productividad operativa se mantiene por encima del umbral SMART_5.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36592" y="43190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426415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permite diagnóstico ágil; cada módulo SMART permite profundizar en las causas raíz de cada KPI.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 — Cierre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ventas, gastos y resultado · Todas las fechas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2 /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1.170 k€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47672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923 k€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93392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246.829€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8184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77256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10,10 €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42048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115.898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87768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82880" y="2240280"/>
          <a:ext cx="50749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440680" y="2240280"/>
            <a:ext cx="3520440" cy="26974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40680" y="2240280"/>
            <a:ext cx="54864" cy="2697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2286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INSIGHTS SMART_1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05272" y="26426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25877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es el mes estrella: 117k€ de resultado con ventas máximas de 209k€. El negocio es altamente estacional.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05272" y="30998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30449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(−4k€) y Agosto (−15k€) generan pérdidas: el coste fijo supera los ingresos en temporada baja.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05272" y="35570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35021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 anual del 21% (246k€/1.170k€): saludable para hostelería si se eliminan los meses negativos.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05272" y="40142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39593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115.898 visitas con ticket de 10,10€: modelo de volumen; cada mejora de ticket tiene alto impacto.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05272" y="44714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44165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ventas-gastos en Sep-Oct-Nov confirma recuperación sólida tras el verano.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2 — Resultado +8% vs Media 6M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objetivo de rentabilidad mensual · Julio 2015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Estado: KO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-751 €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Jul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47672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2.054 €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93392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6M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12464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2.218 €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77256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-137%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2976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vs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6M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42048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87768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82880" y="2240280"/>
          <a:ext cx="3200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3566160" y="2240280"/>
          <a:ext cx="1828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5577840" y="2240280"/>
            <a:ext cx="3383280" cy="2697480"/>
          </a:xfrm>
          <a:prstGeom prst="rect">
            <a:avLst/>
          </a:prstGeom>
          <a:solidFill>
            <a:srgbClr val="111D38"/>
          </a:solidFill>
          <a:ln w="12700">
            <a:solidFill>
              <a:srgbClr val="FF4560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577840" y="2240280"/>
            <a:ext cx="54864" cy="269748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71500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INSIGHTS SMART_2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742432" y="26426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897880" y="25877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2.970€ entre resultado real (−751€) y objetivo (2.219€): el KO es severo en julio.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742432" y="30998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897880" y="30449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julio (5.623€) representan solo el 65% de la media semestral: la demanda colapsa en verano.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742432" y="35570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897880" y="35021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(1.030€) + Alquiler (680€) = costes fijos de 1.710€ que no se reducen aunque no haya venta.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742432" y="40142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897880" y="39593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 Premium y Copa Normal acumulan 2.191€ de ventas (39% del total): son el motor del ingreso.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742432" y="4471416"/>
            <a:ext cx="91440" cy="91440"/>
          </a:xfrm>
          <a:prstGeom prst="ellipse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897880" y="44165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clave: plan de cierre parcial o eventos especiales en julio/agosto para compensar la caída.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3 — Ticket Medio +1,5% vs Mes Anterior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valor por cliente · Enero 2015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Pág. 4 / 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9,50 €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Ene-2015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47672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93392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Ant.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8184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vs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77256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4,04 €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Medio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42048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87768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Vendidas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82880" y="2240280"/>
          <a:ext cx="3200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3566160" y="2240280"/>
          <a:ext cx="1828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hape 21"/>
          <p:cNvSpPr/>
          <p:nvPr/>
        </p:nvSpPr>
        <p:spPr>
          <a:xfrm>
            <a:off x="5577840" y="2240280"/>
            <a:ext cx="3383280" cy="2697480"/>
          </a:xfrm>
          <a:prstGeom prst="rect">
            <a:avLst/>
          </a:prstGeom>
          <a:solidFill>
            <a:srgbClr val="111D38"/>
          </a:solidFill>
          <a:ln w="12700">
            <a:solidFill>
              <a:srgbClr val="F0A500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577840" y="2240280"/>
            <a:ext cx="54864" cy="2697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1500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INSIGHTS SMART_3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742432" y="26426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97880" y="25877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es el mes base: sin mes anterior no hay variación comparable, el objetivo empieza a evaluarse en febrero.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742432" y="30998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97880" y="30449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volumen: Café (863 ud, 1,50€) y Cerveza (729 ud, 2,50€) dominan el volumen pero deprimen el ticket.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742432" y="35570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897880" y="35021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 Luxury (15€) multiplica x10 el valor de un Café: con solo 50 unidades más, el ticket escalaría 0,30€.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42432" y="40142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897880" y="39593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medio ponderado de 4,04€ vs ticket de 9,50€: cada cliente compra ~2,4 unidades de media.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42432" y="44714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97880" y="44165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upgrade: mover a 1 de cada 5 clientes de Café a Copa Normal eleva el ticket en ~0,7€.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4 — Gastos -5% sin Bajar Ventas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estructura de costes · Agosto 2015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Estado: PARCIAL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1627632" cy="10972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2.532 €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Ago-2015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47672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1024128"/>
            <a:ext cx="1627632" cy="109728"/>
          </a:xfrm>
          <a:prstGeom prst="rect">
            <a:avLst/>
          </a:prstGeom>
          <a:solidFill>
            <a:srgbClr val="8DA6C0"/>
          </a:solidFill>
          <a:ln w="12700">
            <a:solidFill>
              <a:srgbClr val="8DA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6.827 €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93392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Media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Anteriores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12464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6.486 €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−5%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77256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24128"/>
            <a:ext cx="1627632" cy="10972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−62,91%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2976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Var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6M 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42048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024128"/>
            <a:ext cx="1627632" cy="10972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1.060 €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87768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Ago-2015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82880" y="2240280"/>
          <a:ext cx="3200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1"/>
          <p:cNvGraphicFramePr/>
          <p:nvPr/>
        </p:nvGraphicFramePr>
        <p:xfrm>
          <a:off x="3566160" y="2240280"/>
          <a:ext cx="1828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5577840" y="2240280"/>
            <a:ext cx="3383280" cy="2697480"/>
          </a:xfrm>
          <a:prstGeom prst="rect">
            <a:avLst/>
          </a:prstGeom>
          <a:solidFill>
            <a:srgbClr val="111D38"/>
          </a:solidFill>
          <a:ln w="12700">
            <a:solidFill>
              <a:srgbClr val="FFA500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577840" y="2240280"/>
            <a:ext cx="54864" cy="26974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71500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INSIGHTS SMART_4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742432" y="2642616"/>
            <a:ext cx="91440" cy="914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897880" y="25877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en Ago (2.532€) superan con creces el objetivo −5% (6.486€): el ahorro se logra por caída de actividad, no por gestión.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742432" y="3099816"/>
            <a:ext cx="91440" cy="914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897880" y="30449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agosto (1.060€) son solo el 12% de la media semestral (8.700€): el negocio está casi cerrado.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742432" y="3557016"/>
            <a:ext cx="91440" cy="914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897880" y="35021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ratio Gasto/Venta en agosto supera el 200%: se pierde dinero con cada euro de venta.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742432" y="4014216"/>
            <a:ext cx="91440" cy="914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897880" y="39593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y autónomos no disminuyen aunque el local esté vacío: urgente revisar la estructura de costes fijos.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742432" y="4471416"/>
            <a:ext cx="91440" cy="9144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897880" y="441655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cierre controlado en agosto o programar eventos temáticos para sostener las ventas.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5 — Productividad (Ventas / Hora)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 del equipo · Noviembre 2015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01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Estado: OK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47672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7.724 €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93392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12464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77256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1024128"/>
            <a:ext cx="1627632" cy="109728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19,21 €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2976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42048" y="1024128"/>
            <a:ext cx="1627632" cy="1097280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024128"/>
            <a:ext cx="1627632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88720"/>
            <a:ext cx="153619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257,47 €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87768" y="1792224"/>
            <a:ext cx="153619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Diaria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182880" y="2240280"/>
          <a:ext cx="50749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5440680" y="2240280"/>
            <a:ext cx="3520440" cy="2697480"/>
          </a:xfrm>
          <a:prstGeom prst="rect">
            <a:avLst/>
          </a:prstGeom>
          <a:solidFill>
            <a:srgbClr val="111D38"/>
          </a:solidFill>
          <a:ln w="12700">
            <a:solidFill>
              <a:srgbClr val="22D66B">
                <a:alpha val="3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2240280"/>
            <a:ext cx="54864" cy="2697480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7840" y="2286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INSIGHTS SMART_5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05272" y="26426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25877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media 19,21€/h cumple el umbral objetivo del SMART_5: el equipo es eficiente cuando trabaja.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05272" y="30998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60720" y="30449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concentra la mayor productividad: 73€/h (L2) y 56€/h (L9), patrón ligado a la apertura semanal.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05272" y="35570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60720" y="35021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registra 0€ de venta en ambas semanas observadas: revisar si es día de cierre o demanda nula.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05272" y="40142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60720" y="39593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muestra caída sistemática (30€ y 79€): patrón consistente de baja afluencia media semana.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605272" y="4471416"/>
            <a:ext cx="91440" cy="91440"/>
          </a:xfrm>
          <a:prstGeom prst="ellipse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60720" y="441655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horas de personal en lunes/domingo maximiza el retorno por hora y reduce el coste laboral.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Tándem Café &amp; Copas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rendimiento anual 2015 · 5 Objetivos SMART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8778240" cy="713232"/>
          </a:xfrm>
          <a:prstGeom prst="rect">
            <a:avLst/>
          </a:prstGeom>
          <a:solidFill>
            <a:srgbClr val="111D38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1097280" cy="71323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058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0607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1408176"/>
            <a:ext cx="105156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4081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ANUAL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1097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246.829€ resultado contable. Diciembre lidera con 117k€. Verano en pérdidas.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1115568"/>
            <a:ext cx="27432" cy="5029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792224"/>
            <a:ext cx="8778240" cy="713232"/>
          </a:xfrm>
          <a:prstGeom prst="rect">
            <a:avLst/>
          </a:prstGeom>
          <a:solidFill>
            <a:srgbClr val="111D38"/>
          </a:solidFill>
          <a:ln w="12700">
            <a:solidFill>
              <a:srgbClr val="FF4560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1792224"/>
            <a:ext cx="1097280" cy="713232"/>
          </a:xfrm>
          <a:prstGeom prst="rect">
            <a:avLst/>
          </a:prstGeom>
          <a:solidFill>
            <a:srgbClr val="FF4560">
              <a:alpha val="60000"/>
            </a:srgbClr>
          </a:solidFill>
          <a:ln w="12700">
            <a:solidFill>
              <a:srgbClr val="FF456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79222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1847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+8% vs 6M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194560"/>
            <a:ext cx="1051560" cy="237744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1945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86200" y="18836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Julio: −751€ vs objetivo 2.218€. Brecha de 2.970€. Costes fijos no cubiertos.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1901952"/>
            <a:ext cx="27432" cy="502920"/>
          </a:xfrm>
          <a:prstGeom prst="rect">
            <a:avLst/>
          </a:prstGeom>
          <a:solidFill>
            <a:srgbClr val="FF4560">
              <a:alpha val="60000"/>
            </a:srgbClr>
          </a:solidFill>
          <a:ln w="12700">
            <a:solidFill>
              <a:srgbClr val="FF456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578608"/>
            <a:ext cx="8778240" cy="713232"/>
          </a:xfrm>
          <a:prstGeom prst="rect">
            <a:avLst/>
          </a:prstGeom>
          <a:solidFill>
            <a:srgbClr val="111D38"/>
          </a:solidFill>
          <a:ln w="12700">
            <a:solidFill>
              <a:srgbClr val="F0A500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578608"/>
            <a:ext cx="1097280" cy="713232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57860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+1,5%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2980944"/>
            <a:ext cx="1051560" cy="2377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9809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SEGUIM.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86200" y="26700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9,50€ en enero (base). Potencial de mejora vía upgrade de producto.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49040" y="2688336"/>
            <a:ext cx="27432" cy="502920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364992"/>
            <a:ext cx="8778240" cy="713232"/>
          </a:xfrm>
          <a:prstGeom prst="rect">
            <a:avLst/>
          </a:prstGeom>
          <a:solidFill>
            <a:srgbClr val="111D38"/>
          </a:solidFill>
          <a:ln w="12700">
            <a:solidFill>
              <a:srgbClr val="FFA500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364992"/>
            <a:ext cx="1097280" cy="713232"/>
          </a:xfrm>
          <a:prstGeom prst="rect">
            <a:avLst/>
          </a:prstGeom>
          <a:solidFill>
            <a:srgbClr val="FFA500">
              <a:alpha val="60000"/>
            </a:srgbClr>
          </a:solidFill>
          <a:ln w="12700">
            <a:solidFill>
              <a:srgbClr val="FFA50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36499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3419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−5% sin bajar vtas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17320" y="3767328"/>
            <a:ext cx="1051560" cy="23774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37673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86200" y="34564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−63% en agosto pero ventas −88%. Ahorro ficticio por cierre de facto.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3474720"/>
            <a:ext cx="27432" cy="502920"/>
          </a:xfrm>
          <a:prstGeom prst="rect">
            <a:avLst/>
          </a:prstGeom>
          <a:solidFill>
            <a:srgbClr val="FFA500">
              <a:alpha val="60000"/>
            </a:srgbClr>
          </a:solidFill>
          <a:ln w="12700">
            <a:solidFill>
              <a:srgbClr val="FFA500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4151376"/>
            <a:ext cx="8778240" cy="713232"/>
          </a:xfrm>
          <a:prstGeom prst="rect">
            <a:avLst/>
          </a:prstGeom>
          <a:solidFill>
            <a:srgbClr val="111D38"/>
          </a:solidFill>
          <a:ln w="12700">
            <a:solidFill>
              <a:srgbClr val="22D66B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2880" y="4151376"/>
            <a:ext cx="1097280" cy="713232"/>
          </a:xfrm>
          <a:prstGeom prst="rect">
            <a:avLst/>
          </a:prstGeom>
          <a:solidFill>
            <a:srgbClr val="22D66B">
              <a:alpha val="60000"/>
            </a:srgbClr>
          </a:solidFill>
          <a:ln w="12700">
            <a:solidFill>
              <a:srgbClr val="22D66B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15137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1732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≥22,81€/h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17320" y="4553712"/>
            <a:ext cx="1051560" cy="237744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45537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86200" y="4242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19,21€/h en noviembre. Lunes y domingo son los días más rentables del ciclo.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49040" y="4261104"/>
            <a:ext cx="27432" cy="502920"/>
          </a:xfrm>
          <a:prstGeom prst="rect">
            <a:avLst/>
          </a:prstGeom>
          <a:solidFill>
            <a:srgbClr val="22D66B">
              <a:alpha val="60000"/>
            </a:srgbClr>
          </a:solidFill>
          <a:ln w="12700">
            <a:solidFill>
              <a:srgbClr val="22D66B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estratégico · Tándem Café &amp; Copas 2015-2016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834640" cy="3977640"/>
          </a:xfrm>
          <a:prstGeom prst="rect">
            <a:avLst/>
          </a:prstGeom>
          <a:solidFill>
            <a:srgbClr val="111D38"/>
          </a:solidFill>
          <a:ln w="12700">
            <a:solidFill>
              <a:srgbClr val="FF4560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834640" cy="457200"/>
          </a:xfrm>
          <a:prstGeom prst="rect">
            <a:avLst/>
          </a:prstGeom>
          <a:solidFill>
            <a:srgbClr val="FF4560">
              <a:alpha val="75000"/>
            </a:srgbClr>
          </a:solidFill>
          <a:ln w="12700">
            <a:solidFill>
              <a:srgbClr val="FF456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URGENTE — Estacionalidad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581912"/>
            <a:ext cx="73152" cy="7315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4533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plan de verano: eventos temáticos en julio/agosto para evitar pérdidas recurrentes.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2679192"/>
            <a:ext cx="73152" cy="7315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4261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con el arrendador una cláusula de reducción de alquiler en meses de baja actividad.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3776472"/>
            <a:ext cx="73152" cy="7315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398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posibilidad de cierre parcial (lunes-jueves en agosto) para eliminar gastos sin ingreso.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005840"/>
            <a:ext cx="2834640" cy="3977640"/>
          </a:xfrm>
          <a:prstGeom prst="rect">
            <a:avLst/>
          </a:prstGeom>
          <a:solidFill>
            <a:srgbClr val="111D38"/>
          </a:solidFill>
          <a:ln w="12700">
            <a:solidFill>
              <a:srgbClr val="F0A500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05840"/>
            <a:ext cx="2834640" cy="457200"/>
          </a:xfrm>
          <a:prstGeom prst="rect">
            <a:avLst/>
          </a:prstGeom>
          <a:solidFill>
            <a:srgbClr val="F0A500">
              <a:alpha val="75000"/>
            </a:srgbClr>
          </a:solidFill>
          <a:ln w="12700">
            <a:solidFill>
              <a:srgbClr val="F0A500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MEJORA — Ticket Medio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1581912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54533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carta de upgrades: proponer Copa Normal (+3€) al cliente de Cerveza en el momento del pedido.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2679192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64261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'Happy Hour' de Copa Premium para los jueves nocturnos, día de baja afluencia media semana.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3776472"/>
            <a:ext cx="73152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7398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mix de producto: reducir el espacio en carta del Café (1,50€) respecto a los productos premium.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834640" cy="3977640"/>
          </a:xfrm>
          <a:prstGeom prst="rect">
            <a:avLst/>
          </a:prstGeom>
          <a:solidFill>
            <a:srgbClr val="111D38"/>
          </a:solidFill>
          <a:ln w="12700">
            <a:solidFill>
              <a:srgbClr val="22D66B">
                <a:alpha val="45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05840"/>
            <a:ext cx="2834640" cy="457200"/>
          </a:xfrm>
          <a:prstGeom prst="rect">
            <a:avLst/>
          </a:prstGeom>
          <a:solidFill>
            <a:srgbClr val="22D66B">
              <a:alpha val="75000"/>
            </a:srgbClr>
          </a:solidFill>
          <a:ln w="12700">
            <a:solidFill>
              <a:srgbClr val="22D66B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MANTENER — Productividad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36208" y="1581912"/>
            <a:ext cx="73152" cy="73152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54533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las horas de personal en lunes, martes y domingo donde la productividad es máxima (&gt;20€/h).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36208" y="2679192"/>
            <a:ext cx="73152" cy="73152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64261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plantilla los miércoles y viernes donde la productividad cae a 0-5€/h de forma sistemática.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36208" y="3776472"/>
            <a:ext cx="73152" cy="73152"/>
          </a:xfrm>
          <a:prstGeom prst="rect">
            <a:avLst/>
          </a:prstGeom>
          <a:solidFill>
            <a:srgbClr val="22D66B"/>
          </a:solidFill>
          <a:ln w="12700">
            <a:solidFill>
              <a:srgbClr val="22D6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7398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un KPI mensual de Ventas/Hora como indicador de gestión de turnos y comunicarlo al equipo.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754880"/>
            <a:ext cx="859536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D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dato sin acción es ruido. Con este dashboard, cada KPI tiene un responsable y un siguiente paso."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1475</Words>
  <Application>Microsoft Office PowerPoint</Application>
  <PresentationFormat>Presentación en pantalla (16:9)</PresentationFormat>
  <Paragraphs>215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Tandem Cafe &amp; Copas - Analisis SMART 2015</dc:title>
  <dc:subject>PptxGenJS Presentation</dc:subject>
  <dc:creator>PptxGenJS</dc:creator>
  <cp:lastModifiedBy>Dell</cp:lastModifiedBy>
  <cp:revision>2</cp:revision>
  <dcterms:created xsi:type="dcterms:W3CDTF">2026-03-03T13:05:54Z</dcterms:created>
  <dcterms:modified xsi:type="dcterms:W3CDTF">2026-03-03T13:17:06Z</dcterms:modified>
</cp:coreProperties>
</file>